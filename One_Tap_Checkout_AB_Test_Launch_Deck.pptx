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dPt>
            <c:idx val="0"/>
            <c:spPr>
              <a:solidFill>
                <a:srgbClr val="5A6B7D"/>
              </a:solidFill>
            </c:spPr>
          </c:dPt>
          <c:dPt>
            <c:idx val="1"/>
            <c:spPr>
              <a:solidFill>
                <a:srgbClr val="0EB5AC"/>
              </a:solidFill>
            </c:spPr>
          </c:dPt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33.7</c:v>
                </c:pt>
                <c:pt idx="1">
                  <c:v>38.96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 %</c:v>
                </c:pt>
              </c:strCache>
            </c:strRef>
          </c:tx>
          <c:spPr>
            <a:solidFill>
              <a:srgbClr val="5A6B7D"/>
            </a:solidFill>
          </c:spPr>
          <c:cat>
            <c:strRef>
              <c:f>Sheet1!$A$2:$A$4</c:f>
              <c:strCache>
                <c:ptCount val="3"/>
                <c:pt idx="0">
                  <c:v>Checkout started</c:v>
                </c:pt>
                <c:pt idx="1">
                  <c:v>Payment attempted</c:v>
                </c:pt>
                <c:pt idx="2">
                  <c:v>Purchase completed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66.16</c:v>
                </c:pt>
                <c:pt idx="1">
                  <c:v>48.28</c:v>
                </c:pt>
                <c:pt idx="2">
                  <c:v>33.7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 %</c:v>
                </c:pt>
              </c:strCache>
            </c:strRef>
          </c:tx>
          <c:spPr>
            <a:solidFill>
              <a:srgbClr val="0EB5AC"/>
            </a:solidFill>
          </c:spPr>
          <c:cat>
            <c:strRef>
              <c:f>Sheet1!$A$2:$A$4</c:f>
              <c:strCache>
                <c:ptCount val="3"/>
                <c:pt idx="0">
                  <c:v>Checkout started</c:v>
                </c:pt>
                <c:pt idx="1">
                  <c:v>Payment attempted</c:v>
                </c:pt>
                <c:pt idx="2">
                  <c:v>Purchase completed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71.31</c:v>
                </c:pt>
                <c:pt idx="1">
                  <c:v>53.93</c:v>
                </c:pt>
                <c:pt idx="2">
                  <c:v>38.96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463040" cy="73152"/>
          </a:xfrm>
          <a:prstGeom prst="rect">
            <a:avLst/>
          </a:prstGeom>
          <a:solidFill>
            <a:srgbClr val="0EB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B5AC"/>
                </a:solidFill>
                <a:latin typeface="Calibri"/>
              </a:rPr>
              <a:t>PRODUCT ANALYTICS  •  A/B TEST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One-Tap Checkout: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End-to-End A/B Test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Should we launch the new checkout feature?  The data says yes.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97680"/>
            <a:ext cx="51206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9E57"/>
                </a:solidFill>
                <a:latin typeface="Calibri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Calibri"/>
              </a:rPr>
              <a:t>LAUNCH  —  ship to 100% of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B5AC"/>
                </a:solidFill>
                <a:latin typeface="Calibri"/>
              </a:rPr>
              <a:t>50,000 users  •  Control 33.70% vs Treatment 38.96% conversion  •  +5.26 pp lift, p &lt; 0.001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D"/>
                </a:solidFill>
                <a:latin typeface="Calibri"/>
              </a:rPr>
              <a:t>One-Tap Checkout A/B Test  |  Source: github.com/Lifewitdata/product-feature-experimentation-conversion-optimization  |  Synthetic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simpler checkout, tested before we ship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554480"/>
            <a:ext cx="6473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2E"/>
                </a:solidFill>
                <a:latin typeface="Calibri"/>
              </a:rPr>
              <a:t>Business question: </a:t>
            </a:r>
            <a:r>
              <a:rPr sz="1600">
                <a:solidFill>
                  <a:srgbClr val="1A1A2E"/>
                </a:solidFill>
                <a:latin typeface="Calibri"/>
              </a:rPr>
              <a:t>Does one-tap checkout improve purchase conversion — without hurting payment success or support load?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23160"/>
            <a:ext cx="6473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2E"/>
                </a:solidFill>
                <a:latin typeface="Calibri"/>
              </a:rPr>
              <a:t>Control: </a:t>
            </a:r>
            <a:r>
              <a:rPr sz="1600">
                <a:solidFill>
                  <a:srgbClr val="1A1A2E"/>
                </a:solidFill>
                <a:latin typeface="Calibri"/>
              </a:rPr>
              <a:t>the current multi-step checkout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91839"/>
            <a:ext cx="6473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2E"/>
                </a:solidFill>
                <a:latin typeface="Calibri"/>
              </a:rPr>
              <a:t>Treatment: </a:t>
            </a:r>
            <a:r>
              <a:rPr sz="1600">
                <a:solidFill>
                  <a:srgbClr val="1A1A2E"/>
                </a:solidFill>
                <a:latin typeface="Calibri"/>
              </a:rPr>
              <a:t>one-tap checkout — fewer steps from cart to payment.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160520"/>
            <a:ext cx="6473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2E"/>
                </a:solidFill>
                <a:latin typeface="Calibri"/>
              </a:rPr>
              <a:t>Randomisation: </a:t>
            </a:r>
            <a:r>
              <a:rPr sz="1600">
                <a:solidFill>
                  <a:srgbClr val="1A1A2E"/>
                </a:solidFill>
                <a:latin typeface="Calibri"/>
              </a:rPr>
              <a:t>50,000 users assigned at user level — 24,904 control / 25,096 treatment.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5029200"/>
            <a:ext cx="6473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2E"/>
                </a:solidFill>
                <a:latin typeface="Calibri"/>
              </a:rPr>
              <a:t>Why test first: </a:t>
            </a:r>
            <a:r>
              <a:rPr sz="1600">
                <a:solidFill>
                  <a:srgbClr val="1A1A2E"/>
                </a:solidFill>
                <a:latin typeface="Calibri"/>
              </a:rPr>
              <a:t>a checkout change touches all revenue. We measure, then launch — not the other way round.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554480"/>
            <a:ext cx="39319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783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B46"/>
                </a:solidFill>
                <a:latin typeface="Calibri"/>
              </a:rPr>
              <a:t>AT A GLANCE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240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40280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2E"/>
                </a:solidFill>
                <a:latin typeface="Calibri"/>
              </a:rPr>
              <a:t>Users: </a:t>
            </a:r>
            <a:r>
              <a:rPr sz="1400">
                <a:solidFill>
                  <a:srgbClr val="1A1A2E"/>
                </a:solidFill>
                <a:latin typeface="Calibri"/>
              </a:rPr>
              <a:t>50,000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8986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898648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2E"/>
                </a:solidFill>
                <a:latin typeface="Calibri"/>
              </a:rPr>
              <a:t>Events: </a:t>
            </a:r>
            <a:r>
              <a:rPr sz="1400">
                <a:solidFill>
                  <a:srgbClr val="1A1A2E"/>
                </a:solidFill>
                <a:latin typeface="Calibri"/>
              </a:rPr>
              <a:t>293,364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55701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557016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2E"/>
                </a:solidFill>
                <a:latin typeface="Calibri"/>
              </a:rPr>
              <a:t>Primary metric: </a:t>
            </a:r>
            <a:r>
              <a:rPr sz="1400">
                <a:solidFill>
                  <a:srgbClr val="1A1A2E"/>
                </a:solidFill>
                <a:latin typeface="Calibri"/>
              </a:rPr>
              <a:t>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2153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215384"/>
            <a:ext cx="3090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2E"/>
                </a:solidFill>
                <a:latin typeface="Calibri"/>
              </a:rPr>
              <a:t>Guardrails: </a:t>
            </a:r>
            <a:r>
              <a:rPr sz="1400">
                <a:solidFill>
                  <a:srgbClr val="1A1A2E"/>
                </a:solidFill>
                <a:latin typeface="Calibri"/>
              </a:rPr>
              <a:t>payment failures, support contacts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D"/>
                </a:solidFill>
                <a:latin typeface="Calibri"/>
              </a:rPr>
              <a:t>One-Tap Checkout A/B Test  |  Source: github.com/Lifewitdata/product-feature-experimentation-conversion-optimization  |  Synthetic dataset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HOW WE MEASURED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Metrics fixed before the readout — no cherry-picking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97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PRIMARY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B46"/>
                </a:solidFill>
                <a:latin typeface="Calibri"/>
              </a:rPr>
              <a:t>Purchase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240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Converted users / all assigned users.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The one number the launch decision rides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697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SECONDARY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488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B46"/>
                </a:solidFill>
                <a:latin typeface="Calibri"/>
              </a:rPr>
              <a:t>Revenue per user + funnel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63240"/>
            <a:ext cx="2240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Revenue per assigned user, and reach at checkout start → payment attempt → purchase.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554480"/>
            <a:ext cx="2697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1488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B46"/>
                </a:solidFill>
                <a:latin typeface="Calibri"/>
              </a:rPr>
              <a:t>Must not get worse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063240"/>
            <a:ext cx="2240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Payment failure rate and support contact rate. A conversion win that breaks payments is not a win.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554480"/>
            <a:ext cx="2697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19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VALIDITY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1488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B46"/>
                </a:solidFill>
                <a:latin typeface="Calibri"/>
              </a:rPr>
              <a:t>Can we trust the split?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3063240"/>
            <a:ext cx="2240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Sample Ratio Mismatch check: chi-square p = 0.39 — no mismatch, randomisation is clean.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D"/>
                </a:solidFill>
                <a:latin typeface="Calibri"/>
              </a:rPr>
              <a:t>Analysis: SQL (BigQuery) for extraction and aggregation  •  Python (chi-square test, 95% confidence intervals) for statistical testing  •  User-level analysis throughout, so repeat sessions cannot inflate the result.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D"/>
                </a:solidFill>
                <a:latin typeface="Calibri"/>
              </a:rPr>
              <a:t>One-Tap Checkout A/B Test  |  Source: github.com/Lifewitdata/product-feature-experimentation-conversion-optimization  |  Synthetic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HEADLINE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Conversion up +5.26 points — and it is not noise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53035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09360" y="1554480"/>
            <a:ext cx="5303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276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D"/>
                </a:solidFill>
                <a:latin typeface="Calibri"/>
              </a:rPr>
              <a:t>Absolute lift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9019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B46"/>
                </a:solidFill>
                <a:latin typeface="Calibri"/>
              </a:rPr>
              <a:t>+5.26 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542032"/>
            <a:ext cx="5303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151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D"/>
                </a:solidFill>
                <a:latin typeface="Calibri"/>
              </a:rPr>
              <a:t>Relative 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895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B46"/>
                </a:solidFill>
                <a:latin typeface="Calibri"/>
              </a:rPr>
              <a:t>+15.6%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529584"/>
            <a:ext cx="5303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602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D"/>
                </a:solidFill>
                <a:latin typeface="Calibri"/>
              </a:rPr>
              <a:t>95% confidence interval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87705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B46"/>
                </a:solidFill>
                <a:latin typeface="Calibri"/>
              </a:rPr>
              <a:t>+4.42 to +6.11 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517136"/>
            <a:ext cx="5303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590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D"/>
                </a:solidFill>
                <a:latin typeface="Calibri"/>
              </a:rPr>
              <a:t>Chi-square p-value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8646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B46"/>
                </a:solidFill>
                <a:latin typeface="Calibri"/>
              </a:rPr>
              <a:t>2.2e-34  (p &lt; 0.001)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 plain terms: for every 100 users who would have bought before, about 16 more buy with one-tap checkout — and the interval rules out "no effect" by a wide margin.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D"/>
                </a:solidFill>
                <a:latin typeface="Calibri"/>
              </a:rPr>
              <a:t>One-Tap Checkout A/B Test  |  Source: github.com/Lifewitdata/product-feature-experimentation-conversion-optimization  |  Synthetic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WHERE THE LIFT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gain starts at checkout — and holds through payment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67665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691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2128" y="1691640"/>
            <a:ext cx="3730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alibri"/>
              </a:rPr>
              <a:t>Checkout start: </a:t>
            </a:r>
            <a:r>
              <a:rPr sz="1500">
                <a:solidFill>
                  <a:srgbClr val="1A1A2E"/>
                </a:solidFill>
                <a:latin typeface="Calibri"/>
              </a:rPr>
              <a:t>66.2% → 71.3%  (+5.1 pp)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8" y="2651760"/>
            <a:ext cx="3730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alibri"/>
              </a:rPr>
              <a:t>Payment attempt: </a:t>
            </a:r>
            <a:r>
              <a:rPr sz="1500">
                <a:solidFill>
                  <a:srgbClr val="1A1A2E"/>
                </a:solidFill>
                <a:latin typeface="Calibri"/>
              </a:rPr>
              <a:t>48.3% → 53.9%  (+5.7 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611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8" y="3611880"/>
            <a:ext cx="3730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alibri"/>
              </a:rPr>
              <a:t>Stage conversion also improves: </a:t>
            </a:r>
            <a:r>
              <a:rPr sz="1500">
                <a:solidFill>
                  <a:srgbClr val="1A1A2E"/>
                </a:solidFill>
                <a:latin typeface="Calibri"/>
              </a:rPr>
              <a:t>checkout → payment 73.0% → 75.6%; payment → complete 69.8% → 72.2%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This is a funnel-wide lift, not a single-step artefact — fewer steps means fewer places to drop 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D"/>
                </a:solidFill>
                <a:latin typeface="Calibri"/>
              </a:rPr>
              <a:t>One-Tap Checkout A/B Test  |  Source: github.com/Lifewitdata/product-feature-experimentation-conversion-optimization  |  Synthetic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REVENUE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More buyers, at no cost to order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REVENUE PER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Calibri"/>
              </a:rPr>
              <a:t>$16.65  →  $19.09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71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+14.6% per assigned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TOTAL REVENUE (TEST)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Calibri"/>
              </a:rPr>
              <a:t>$414,651  →  $478,976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71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+$64,326 across the test groups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PURCHASES PER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Calibri"/>
              </a:rPr>
              <a:t>0.44  →  0.51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71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More completed purchases, same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What this means at scale: the lift is in conversion, not in pushing bigger baskets — revenue per user rises because more users complete a purchase. Rolled out to all traffic, the same +14.6% revenue-per-user pattern is the planning assumption, to be confirmed by post-launch monitoring (next slide).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D"/>
                </a:solidFill>
                <a:latin typeface="Calibri"/>
              </a:rPr>
              <a:t>One-Tap Checkout A/B Test  |  Source: github.com/Lifewitdata/product-feature-experimentation-conversion-optimization  |  Synthetic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B5AC"/>
                </a:solidFill>
                <a:latin typeface="Calibri"/>
              </a:rPr>
              <a:t>GUARDRAILS AND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No harm done — and the lift is everywhere, not in one pocket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9E57"/>
                </a:solidFill>
                <a:latin typeface="Calibri"/>
              </a:rPr>
              <a:t>GUARDRAILS — FLAT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03120"/>
            <a:ext cx="4645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alibri"/>
              </a:rPr>
              <a:t>Payment failures: </a:t>
            </a:r>
            <a:r>
              <a:rPr sz="1500">
                <a:solidFill>
                  <a:srgbClr val="1A1A2E"/>
                </a:solidFill>
                <a:latin typeface="Calibri"/>
              </a:rPr>
              <a:t>3.71% → 3.71%  (-0.01 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00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70048"/>
            <a:ext cx="4645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alibri"/>
              </a:rPr>
              <a:t>Support contacts: </a:t>
            </a:r>
            <a:r>
              <a:rPr sz="1500">
                <a:solidFill>
                  <a:srgbClr val="1A1A2E"/>
                </a:solidFill>
                <a:latin typeface="Calibri"/>
              </a:rPr>
              <a:t>3.49% → 3.63%  (+0.14 pp)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9E57"/>
                </a:solidFill>
                <a:latin typeface="Calibri"/>
              </a:rPr>
              <a:t>SEGMENTS — LIFT 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103120"/>
            <a:ext cx="4462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alibri"/>
              </a:rPr>
              <a:t>Device: </a:t>
            </a:r>
            <a:r>
              <a:rPr sz="1500">
                <a:solidFill>
                  <a:srgbClr val="1A1A2E"/>
                </a:solidFill>
                <a:latin typeface="Calibri"/>
              </a:rPr>
              <a:t>Mobile +5.1 pp, Desktop +5.7 pp, Tablet +4.7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700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B5AC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670048"/>
            <a:ext cx="4462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alibri"/>
              </a:rPr>
              <a:t>Customer: </a:t>
            </a:r>
            <a:r>
              <a:rPr sz="1500">
                <a:solidFill>
                  <a:srgbClr val="1A1A2E"/>
                </a:solidFill>
                <a:latin typeface="Calibri"/>
              </a:rPr>
              <a:t>Returning +6.1 pp, Active +5.1 pp, New +4.8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Country check: positive in all five markets — Canada +7.6 pp, United States +6.8 pp, Australia +4.4 pp, India +4.8 pp, United Kingdom +4.2 pp.</a:t>
            </a:r>
          </a:p>
          <a:p>
            <a:pPr algn="l"/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No segment is negative. There is no group we would need to exclude from the rollout.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D"/>
                </a:solidFill>
                <a:latin typeface="Calibri"/>
              </a:rPr>
              <a:t>One-Tap Checkout A/B Test  |  Source: github.com/Lifewitdata/product-feature-experimentation-conversion-optimization  |  Synthetic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B7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B5AC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one-tap checkout to 100% of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1106424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B46"/>
                </a:solidFill>
                <a:latin typeface="Calibri"/>
              </a:rPr>
              <a:t>1. Ship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963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Conversion +5.26 pp (p &lt; 0.001), revenue per user +14.6%, guardrails flat. The evidence clears the launch bar.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106424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B46"/>
                </a:solidFill>
                <a:latin typeface="Calibri"/>
              </a:rPr>
              <a:t>2. Monitor for 2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307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Track conversion, payment failure rate and support contacts daily against the test baselines on this deck.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34840"/>
            <a:ext cx="1106424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B46"/>
                </a:solidFill>
                <a:latin typeface="Calibri"/>
              </a:rPr>
              <a:t>3. Keep a holdout if tooling allows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651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 small 5% holdout for the first month gives a clean post-launch read on real revenue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EB5AC"/>
                </a:solidFill>
                <a:latin typeface="Calibri"/>
              </a:rPr>
              <a:t>Honest caveat: this analysis uses a synthetic dataset built to demonstrate the end-to-end workflow — SQL extraction, Python statistical testing, and a senior-management readout. The method is the deliverable.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EB5A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